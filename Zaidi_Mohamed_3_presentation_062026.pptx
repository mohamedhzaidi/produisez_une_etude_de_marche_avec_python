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18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60365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-1463040"/>
            <a:ext cx="3840480" cy="3840480"/>
          </a:xfrm>
          <a:prstGeom prst="ellipse">
            <a:avLst/>
          </a:prstGeom>
          <a:solidFill>
            <a:srgbClr val="E8792E">
              <a:alpha val="12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-1371600" y="3291840"/>
            <a:ext cx="3291840" cy="3291840"/>
          </a:xfrm>
          <a:prstGeom prst="ellipse">
            <a:avLst/>
          </a:prstGeom>
          <a:solidFill>
            <a:srgbClr val="1E8E82">
              <a:alpha val="12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2E3B45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5" name="Image 0" descr="/home/claude/icons/chicken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60" y="575340"/>
            <a:ext cx="513527" cy="51352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16916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87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POULE QUI CHANTE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02920" y="2011680"/>
            <a:ext cx="8138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Identifier les marchés prioritaires à l'international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521208" y="33832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7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 de marché à l'export — Analyse multicritère et segmentation des pays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7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COMEX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21208" y="4160520"/>
            <a:ext cx="1005840" cy="0"/>
          </a:xfrm>
          <a:prstGeom prst="line">
            <a:avLst/>
          </a:prstGeom>
          <a:noFill/>
          <a:ln w="31750">
            <a:solidFill>
              <a:srgbClr val="E879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502920" y="42976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4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Zaidi •  Data Analyst  •  Juin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7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SOMMAIRE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1B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 donnée à la recommandation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600200"/>
            <a:ext cx="640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7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234440" y="1682496"/>
            <a:ext cx="457200" cy="457200"/>
          </a:xfrm>
          <a:prstGeom prst="ellipse">
            <a:avLst/>
          </a:prstGeom>
          <a:solidFill>
            <a:srgbClr val="FDEEE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0" descr="/home/claude/icons/database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3020" y="1751076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1600200"/>
            <a:ext cx="3017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Contexte &amp; mission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892040" y="1600200"/>
            <a:ext cx="3749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explorer l'international, et avec quel mandat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02920" y="2276856"/>
            <a:ext cx="640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8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1234440" y="2359152"/>
            <a:ext cx="457200" cy="457200"/>
          </a:xfrm>
          <a:prstGeom prst="ellipse">
            <a:avLst/>
          </a:prstGeom>
          <a:solidFill>
            <a:srgbClr val="E8F3F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mage 1" descr="/home/claude/icons/filter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3020" y="2427732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74520" y="2276856"/>
            <a:ext cx="3017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 &amp; méthodologie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892040" y="2276856"/>
            <a:ext cx="3749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Sources, construction du jeu de données, variables retenues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502920" y="2953512"/>
            <a:ext cx="640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8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Shape 11"/>
          <p:cNvSpPr/>
          <p:nvPr/>
        </p:nvSpPr>
        <p:spPr>
          <a:xfrm>
            <a:off x="1234440" y="3035808"/>
            <a:ext cx="457200" cy="457200"/>
          </a:xfrm>
          <a:prstGeom prst="ellipse">
            <a:avLst/>
          </a:prstGeom>
          <a:solidFill>
            <a:srgbClr val="E8F3F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6" name="Image 2" descr="/home/claude/icons/chartpie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3020" y="3104388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74520" y="2953512"/>
            <a:ext cx="3017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en composantes principales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4892040" y="2953512"/>
            <a:ext cx="3749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Réduction de dimension et lecture des grands axes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502920" y="3630168"/>
            <a:ext cx="640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7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Shape 15"/>
          <p:cNvSpPr/>
          <p:nvPr/>
        </p:nvSpPr>
        <p:spPr>
          <a:xfrm>
            <a:off x="1234440" y="3712464"/>
            <a:ext cx="457200" cy="457200"/>
          </a:xfrm>
          <a:prstGeom prst="ellipse">
            <a:avLst/>
          </a:prstGeom>
          <a:solidFill>
            <a:srgbClr val="FDEEE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1" name="Image 3" descr="/home/claude/icons/objectgroup_oran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3020" y="3781044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874520" y="3630168"/>
            <a:ext cx="3017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Segmentation des pays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4892040" y="3630168"/>
            <a:ext cx="3749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ascendante hiérarchique puis K-means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502920" y="4306824"/>
            <a:ext cx="640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7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25" name="Shape 19"/>
          <p:cNvSpPr/>
          <p:nvPr/>
        </p:nvSpPr>
        <p:spPr>
          <a:xfrm>
            <a:off x="1234440" y="4389120"/>
            <a:ext cx="457200" cy="457200"/>
          </a:xfrm>
          <a:prstGeom prst="ellipse">
            <a:avLst/>
          </a:prstGeom>
          <a:solidFill>
            <a:srgbClr val="FDEEE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6" name="Image 4" descr="/home/claude/icons/bullseye_oran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03020" y="4457700"/>
            <a:ext cx="320040" cy="3200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874520" y="4306824"/>
            <a:ext cx="3017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Recommandations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892040" y="4306824"/>
            <a:ext cx="3749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cluster cible et la feuille de route à l'export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8503920" y="47594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7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1B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marché français mature, un mandat clair de Patrick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4892040" cy="3246120"/>
          </a:xfrm>
          <a:prstGeom prst="roundRect">
            <a:avLst>
              <a:gd name="adj" fmla="val 2535"/>
            </a:avLst>
          </a:prstGeom>
          <a:solidFill>
            <a:srgbClr val="EAF3EC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4343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B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Poule qui Chante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Éleveur et distributeur français de volaille sous label </a:t>
            </a:r>
            <a:r>
              <a:rPr lang="en-US" sz="1350" b="1" dirty="0">
                <a:solidFill>
                  <a:srgbClr val="1B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“Poulet Agriculture Biologique”</a:t>
            </a:r>
            <a:r>
              <a:rPr lang="en-US" sz="1350" dirty="0">
                <a:solidFill>
                  <a:srgbClr val="1B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100 % franco-français à ce jour.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B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problématique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Quels pays présentent le meilleur potentiel pour importer et consommer une volaille bio française, et par où commencer l'exploration ?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577840" y="1508760"/>
            <a:ext cx="3063240" cy="960120"/>
          </a:xfrm>
          <a:prstGeom prst="roundRect">
            <a:avLst>
              <a:gd name="adj" fmla="val 8571"/>
            </a:avLst>
          </a:prstGeom>
          <a:solidFill>
            <a:srgbClr val="FDEEE1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5806440" y="1746504"/>
            <a:ext cx="475488" cy="475488"/>
          </a:xfrm>
          <a:prstGeom prst="ellipse">
            <a:avLst/>
          </a:prstGeom>
          <a:solidFill>
            <a:srgbClr val="E8792E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8" name="Image 0" descr="/home/claude/icons/glob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7763" y="1817827"/>
            <a:ext cx="332842" cy="33284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0" y="1508760"/>
            <a:ext cx="2148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B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pays ni continent n'est pré-sélectionné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577840" y="2606040"/>
            <a:ext cx="3063240" cy="960120"/>
          </a:xfrm>
          <a:prstGeom prst="roundRect">
            <a:avLst>
              <a:gd name="adj" fmla="val 8571"/>
            </a:avLst>
          </a:prstGeom>
          <a:solidFill>
            <a:srgbClr val="FDEEE1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5806440" y="2843784"/>
            <a:ext cx="475488" cy="475488"/>
          </a:xfrm>
          <a:prstGeom prst="ellipse">
            <a:avLst/>
          </a:prstGeom>
          <a:solidFill>
            <a:srgbClr val="E8792E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2" name="Image 1" descr="/home/claude/icons/objectgroup_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7763" y="2915107"/>
            <a:ext cx="332842" cy="33284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400800" y="2606040"/>
            <a:ext cx="2148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B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proposer des groupements de pays cibles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577840" y="3703320"/>
            <a:ext cx="3063240" cy="960120"/>
          </a:xfrm>
          <a:prstGeom prst="roundRect">
            <a:avLst>
              <a:gd name="adj" fmla="val 8571"/>
            </a:avLst>
          </a:prstGeom>
          <a:solidFill>
            <a:srgbClr val="FDEEE1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1"/>
          <p:cNvSpPr/>
          <p:nvPr/>
        </p:nvSpPr>
        <p:spPr>
          <a:xfrm>
            <a:off x="5806440" y="3941064"/>
            <a:ext cx="475488" cy="475488"/>
          </a:xfrm>
          <a:prstGeom prst="ellipse">
            <a:avLst/>
          </a:prstGeom>
          <a:solidFill>
            <a:srgbClr val="E8792E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6" name="Image 2" descr="/home/claude/icons/bulb_oran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7763" y="4012387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0800" y="3703320"/>
            <a:ext cx="2148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B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 de marché approfondie à suivre dans un second temps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8503920" y="47594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7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MANDAT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1B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que Patrick nous a demandé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4041648" cy="1572768"/>
          </a:xfrm>
          <a:prstGeom prst="roundRect">
            <a:avLst>
              <a:gd name="adj" fmla="val 5233"/>
            </a:avLst>
          </a:prstGeom>
          <a:solidFill>
            <a:srgbClr val="FDEEE1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502920" cy="502920"/>
          </a:xfrm>
          <a:prstGeom prst="ellipse">
            <a:avLst/>
          </a:prstGeom>
          <a:solidFill>
            <a:srgbClr val="E8792E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0" descr="/home/claude/icons/database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958" y="1858518"/>
            <a:ext cx="352044" cy="3520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737360"/>
            <a:ext cx="2990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Partir des données FAO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31520" y="2176272"/>
            <a:ext cx="3584448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26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Puis enrichir avec des données ouvertes (Banque mondiale, données mondiales…) via une lecture PESTEL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4690872" y="1554480"/>
            <a:ext cx="4041648" cy="1572768"/>
          </a:xfrm>
          <a:prstGeom prst="roundRect">
            <a:avLst>
              <a:gd name="adj" fmla="val 5233"/>
            </a:avLst>
          </a:prstGeom>
          <a:solidFill>
            <a:srgbClr val="FDEEE1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4919472" y="1783080"/>
            <a:ext cx="502920" cy="502920"/>
          </a:xfrm>
          <a:prstGeom prst="ellipse">
            <a:avLst/>
          </a:prstGeom>
          <a:solidFill>
            <a:srgbClr val="E8792E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mage 1" descr="/home/claude/icons/globe_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4910" y="1858518"/>
            <a:ext cx="352044" cy="3520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59552" y="1737360"/>
            <a:ext cx="2990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Couvrir un large périmètre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919472" y="2176272"/>
            <a:ext cx="3584448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26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minimum 100 pays, représentant au moins 60 % de la population mondiale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502920" y="3273552"/>
            <a:ext cx="4041648" cy="1572768"/>
          </a:xfrm>
          <a:prstGeom prst="roundRect">
            <a:avLst>
              <a:gd name="adj" fmla="val 5233"/>
            </a:avLst>
          </a:prstGeom>
          <a:solidFill>
            <a:srgbClr val="FDEEE1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1"/>
          <p:cNvSpPr/>
          <p:nvPr/>
        </p:nvSpPr>
        <p:spPr>
          <a:xfrm>
            <a:off x="731520" y="3502152"/>
            <a:ext cx="502920" cy="502920"/>
          </a:xfrm>
          <a:prstGeom prst="ellipse">
            <a:avLst/>
          </a:prstGeom>
          <a:solidFill>
            <a:srgbClr val="E8792E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6" name="Image 2" descr="/home/claude/icons/objectgroup_oran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958" y="3577590"/>
            <a:ext cx="352044" cy="3520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3456432"/>
            <a:ext cx="2990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Réduire puis regrouper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731520" y="3895344"/>
            <a:ext cx="3584448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26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ACP pour réduire la dimension, puis un clustering : CAH d'abord, K-means ensuite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4690872" y="3273552"/>
            <a:ext cx="4041648" cy="1572768"/>
          </a:xfrm>
          <a:prstGeom prst="roundRect">
            <a:avLst>
              <a:gd name="adj" fmla="val 5233"/>
            </a:avLst>
          </a:prstGeom>
          <a:solidFill>
            <a:srgbClr val="FDEEE1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5"/>
          <p:cNvSpPr/>
          <p:nvPr/>
        </p:nvSpPr>
        <p:spPr>
          <a:xfrm>
            <a:off x="4919472" y="3502152"/>
            <a:ext cx="502920" cy="502920"/>
          </a:xfrm>
          <a:prstGeom prst="ellipse">
            <a:avLst/>
          </a:prstGeom>
          <a:solidFill>
            <a:srgbClr val="E8792E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1" name="Image 3" descr="/home/claude/icons/bullseye_oran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4910" y="3577590"/>
            <a:ext cx="352044" cy="3520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59552" y="3456432"/>
            <a:ext cx="2990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pour le COMEX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4919472" y="3895344"/>
            <a:ext cx="3584448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26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restitution </a:t>
            </a:r>
            <a:r>
              <a:rPr lang="en-US" sz="1080" dirty="0" err="1">
                <a:solidFill>
                  <a:srgbClr val="26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orientée</a:t>
            </a:r>
            <a:r>
              <a:rPr lang="en-US" sz="1080" dirty="0">
                <a:solidFill>
                  <a:srgbClr val="26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80" dirty="0" err="1">
                <a:solidFill>
                  <a:srgbClr val="26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</a:t>
            </a:r>
            <a:r>
              <a:rPr lang="en-US" sz="1080" dirty="0">
                <a:solidFill>
                  <a:srgbClr val="26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avec des préconisations de pays</a:t>
            </a:r>
            <a:endParaRPr lang="en-US" sz="1080" dirty="0"/>
          </a:p>
        </p:txBody>
      </p:sp>
      <p:sp>
        <p:nvSpPr>
          <p:cNvPr id="24" name="Text 18"/>
          <p:cNvSpPr/>
          <p:nvPr/>
        </p:nvSpPr>
        <p:spPr>
          <a:xfrm>
            <a:off x="8503920" y="47594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7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MÉTHODOLOGIE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1B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Notre démarche : de la donnée à la décision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847088" cy="1965960"/>
          </a:xfrm>
          <a:prstGeom prst="roundRect">
            <a:avLst>
              <a:gd name="adj" fmla="val 4455"/>
            </a:avLst>
          </a:prstGeom>
          <a:solidFill>
            <a:srgbClr val="E8F3F1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685800" y="1984248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8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2532888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971800"/>
            <a:ext cx="15727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6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FAO, Banque mondiale : volaille, économie, </a:t>
            </a:r>
            <a:r>
              <a:rPr lang="en-US" sz="1000" dirty="0" err="1">
                <a:solidFill>
                  <a:srgbClr val="26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stabilité</a:t>
            </a:r>
            <a:r>
              <a:rPr lang="en-US" sz="1000" dirty="0">
                <a:solidFill>
                  <a:srgbClr val="26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politique</a:t>
            </a:r>
            <a:endParaRPr lang="en-US" sz="1000" dirty="0"/>
          </a:p>
        </p:txBody>
      </p:sp>
      <p:pic>
        <p:nvPicPr>
          <p:cNvPr id="8" name="Image 0" descr="/home/claude/icons/map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5230" y="2537460"/>
            <a:ext cx="914400" cy="914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615184" y="1874520"/>
            <a:ext cx="1847088" cy="1965960"/>
          </a:xfrm>
          <a:prstGeom prst="roundRect">
            <a:avLst>
              <a:gd name="adj" fmla="val 4455"/>
            </a:avLst>
          </a:prstGeom>
          <a:solidFill>
            <a:srgbClr val="FDEEE1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2752344" y="1984248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7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2752344" y="2532888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Nettoyage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2752344" y="2971800"/>
            <a:ext cx="15727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6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Harmonisation des pays, valeurs manquantes, doublons</a:t>
            </a:r>
            <a:endParaRPr lang="en-US" sz="1000" dirty="0"/>
          </a:p>
        </p:txBody>
      </p:sp>
      <p:pic>
        <p:nvPicPr>
          <p:cNvPr id="13" name="Image 1" descr="/home/claude/icons/map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1774" y="2537460"/>
            <a:ext cx="914400" cy="9144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681728" y="1874520"/>
            <a:ext cx="1847088" cy="1965960"/>
          </a:xfrm>
          <a:prstGeom prst="roundRect">
            <a:avLst>
              <a:gd name="adj" fmla="val 4455"/>
            </a:avLst>
          </a:prstGeom>
          <a:solidFill>
            <a:srgbClr val="E8F3F1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Text 11"/>
          <p:cNvSpPr/>
          <p:nvPr/>
        </p:nvSpPr>
        <p:spPr>
          <a:xfrm>
            <a:off x="4818888" y="1984248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8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2"/>
          <p:cNvSpPr/>
          <p:nvPr/>
        </p:nvSpPr>
        <p:spPr>
          <a:xfrm>
            <a:off x="4818888" y="2532888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Exploration &amp; ACP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4818888" y="2971800"/>
            <a:ext cx="15727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6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Statistiques descriptives puis réduction de dimension</a:t>
            </a:r>
            <a:endParaRPr lang="en-US" sz="1000" dirty="0"/>
          </a:p>
        </p:txBody>
      </p:sp>
      <p:pic>
        <p:nvPicPr>
          <p:cNvPr id="18" name="Image 2" descr="/home/claude/icons/map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8318" y="2537460"/>
            <a:ext cx="914400" cy="9144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6748272" y="1874520"/>
            <a:ext cx="1847088" cy="1965960"/>
          </a:xfrm>
          <a:prstGeom prst="roundRect">
            <a:avLst>
              <a:gd name="adj" fmla="val 4455"/>
            </a:avLst>
          </a:prstGeom>
          <a:solidFill>
            <a:srgbClr val="FDEEE1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Text 15"/>
          <p:cNvSpPr/>
          <p:nvPr/>
        </p:nvSpPr>
        <p:spPr>
          <a:xfrm>
            <a:off x="6885432" y="1984248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7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600" dirty="0"/>
          </a:p>
        </p:txBody>
      </p:sp>
      <p:sp>
        <p:nvSpPr>
          <p:cNvPr id="21" name="Text 16"/>
          <p:cNvSpPr/>
          <p:nvPr/>
        </p:nvSpPr>
        <p:spPr>
          <a:xfrm>
            <a:off x="6885432" y="2532888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Clustering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885432" y="2971800"/>
            <a:ext cx="15727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6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CAH pour explorer,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6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pour trancher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2414016" y="262890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Text 19"/>
          <p:cNvSpPr/>
          <p:nvPr/>
        </p:nvSpPr>
        <p:spPr>
          <a:xfrm>
            <a:off x="4480560" y="262890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Text 20"/>
          <p:cNvSpPr/>
          <p:nvPr/>
        </p:nvSpPr>
        <p:spPr>
          <a:xfrm>
            <a:off x="6547104" y="262890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Text 21"/>
          <p:cNvSpPr/>
          <p:nvPr/>
        </p:nvSpPr>
        <p:spPr>
          <a:xfrm>
            <a:off x="502920" y="416052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notebooks séparés : préparation des données, puis ACP et clustering — pour une démarche traçable et reproductible.</a:t>
            </a:r>
            <a:endParaRPr lang="en-US" sz="1150" dirty="0"/>
          </a:p>
        </p:txBody>
      </p:sp>
      <p:sp>
        <p:nvSpPr>
          <p:cNvPr id="27" name="Text 22"/>
          <p:cNvSpPr/>
          <p:nvPr/>
        </p:nvSpPr>
        <p:spPr>
          <a:xfrm>
            <a:off x="8503920" y="47594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7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1B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Trois sources ouvertes, croisées sur l'année 2017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2624328" cy="3063240"/>
          </a:xfrm>
          <a:prstGeom prst="roundRect">
            <a:avLst>
              <a:gd name="adj" fmla="val 3136"/>
            </a:avLst>
          </a:prstGeom>
          <a:solidFill>
            <a:srgbClr val="FDEEE1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722376" y="1773936"/>
            <a:ext cx="530352" cy="530352"/>
          </a:xfrm>
          <a:prstGeom prst="ellipse">
            <a:avLst/>
          </a:prstGeom>
          <a:solidFill>
            <a:srgbClr val="E8792E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0" descr="/home/claude/icons/database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929" y="1853489"/>
            <a:ext cx="371246" cy="37124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22376" y="2450592"/>
            <a:ext cx="21854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E87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FAO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22376" y="2724912"/>
            <a:ext cx="21854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Disponibilité alimentaire mondiale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22376" y="3310128"/>
            <a:ext cx="218541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26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Production, imports, exports, disponibilité intérieure, variation de stock et consommation par habitant — filtrées sur “Viande de Volailles”</a:t>
            </a:r>
            <a:endParaRPr lang="en-US" sz="1030" dirty="0"/>
          </a:p>
        </p:txBody>
      </p:sp>
      <p:sp>
        <p:nvSpPr>
          <p:cNvPr id="10" name="Shape 7"/>
          <p:cNvSpPr/>
          <p:nvPr/>
        </p:nvSpPr>
        <p:spPr>
          <a:xfrm>
            <a:off x="3264408" y="1554480"/>
            <a:ext cx="2624328" cy="3063240"/>
          </a:xfrm>
          <a:prstGeom prst="roundRect">
            <a:avLst>
              <a:gd name="adj" fmla="val 3136"/>
            </a:avLst>
          </a:prstGeom>
          <a:solidFill>
            <a:srgbClr val="E8F3F1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3483864" y="1773936"/>
            <a:ext cx="530352" cy="530352"/>
          </a:xfrm>
          <a:prstGeom prst="ellipse">
            <a:avLst/>
          </a:prstGeom>
          <a:solidFill>
            <a:srgbClr val="1E8E82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2" name="Image 1" descr="/home/claude/icons/coins_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3417" y="1853489"/>
            <a:ext cx="371246" cy="37124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83864" y="2450592"/>
            <a:ext cx="21854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1E8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Banque mondiale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483864" y="2724912"/>
            <a:ext cx="21854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Indicateurs socio-économiques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3483864" y="3310128"/>
            <a:ext cx="218541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26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PIB par habitant (USD) et indice de stabilité politique, par pays et par année</a:t>
            </a:r>
            <a:endParaRPr lang="en-US" sz="1030" dirty="0"/>
          </a:p>
        </p:txBody>
      </p:sp>
      <p:sp>
        <p:nvSpPr>
          <p:cNvPr id="16" name="Shape 12"/>
          <p:cNvSpPr/>
          <p:nvPr/>
        </p:nvSpPr>
        <p:spPr>
          <a:xfrm>
            <a:off x="6025896" y="1554480"/>
            <a:ext cx="2624328" cy="3063240"/>
          </a:xfrm>
          <a:prstGeom prst="roundRect">
            <a:avLst>
              <a:gd name="adj" fmla="val 3136"/>
            </a:avLst>
          </a:prstGeom>
          <a:solidFill>
            <a:srgbClr val="EAF3EC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3"/>
          <p:cNvSpPr/>
          <p:nvPr/>
        </p:nvSpPr>
        <p:spPr>
          <a:xfrm>
            <a:off x="6245352" y="1773936"/>
            <a:ext cx="530352" cy="530352"/>
          </a:xfrm>
          <a:prstGeom prst="ellipse">
            <a:avLst/>
          </a:prstGeom>
          <a:solidFill>
            <a:srgbClr val="3E7C5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8" name="Image 2" descr="/home/claude/icons/users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4905" y="1853489"/>
            <a:ext cx="371246" cy="37124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45352" y="2450592"/>
            <a:ext cx="21854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3E7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ONU / FAO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245352" y="2724912"/>
            <a:ext cx="21854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Population totale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6245352" y="3310128"/>
            <a:ext cx="218541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26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par pays, année 2017, utilisée pour pondérer et pour vérifier la couverture de l'échantillon</a:t>
            </a:r>
            <a:endParaRPr lang="en-US" sz="1030" dirty="0"/>
          </a:p>
        </p:txBody>
      </p:sp>
      <p:sp>
        <p:nvSpPr>
          <p:cNvPr id="22" name="Text 17"/>
          <p:cNvSpPr/>
          <p:nvPr/>
        </p:nvSpPr>
        <p:spPr>
          <a:xfrm>
            <a:off x="8503920" y="47594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7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PRÉPARATION DES DONNÉES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1B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Construire un jeu de données propre et fiable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4041648" cy="3246120"/>
          </a:xfrm>
          <a:prstGeom prst="roundRect">
            <a:avLst>
              <a:gd name="adj" fmla="val 2535"/>
            </a:avLst>
          </a:prstGeom>
          <a:solidFill>
            <a:srgbClr val="E8F3F1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777240" y="16916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8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Assemblage des sources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100" dirty="0">
                <a:solidFill>
                  <a:srgbClr val="1B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Filtrage FAO sur “Viande de Volailles”, année 2017 : production, imports, exports, disponibilité, stock, consommation/habitant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100" dirty="0">
                <a:solidFill>
                  <a:srgbClr val="1B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Jointures successives avec la population (ONU), puis le PIB/habitant et la stabilité politique (Banque mondiale)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100" dirty="0">
                <a:solidFill>
                  <a:srgbClr val="1B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Harmonisation des noms de pays entre sources via un dictionnaire de correspondance (ex. “Chine, continentale” ↔ “Chine”)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09160" y="1508760"/>
            <a:ext cx="3931920" cy="3246120"/>
          </a:xfrm>
          <a:prstGeom prst="roundRect">
            <a:avLst>
              <a:gd name="adj" fmla="val 2535"/>
            </a:avLst>
          </a:prstGeom>
          <a:solidFill>
            <a:srgbClr val="FDEEE1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983480" y="16916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5F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Traitement de la qualité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83480" y="2057400"/>
            <a:ext cx="347472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100" dirty="0">
                <a:solidFill>
                  <a:srgbClr val="1B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Exportations manquantes estimées par une formule comptable (Production + Imports + Δ Stock − Disponibilité), puis valeurs négatives ramenées à 0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100" dirty="0">
                <a:solidFill>
                  <a:srgbClr val="1B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Suppression des pays dont les variables critiques (production, imports, disponibilité) restent incomplètes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100" dirty="0">
                <a:solidFill>
                  <a:srgbClr val="1B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Doublons “Chine / Hong Kong / Macao” consolidés pour éviter un double comptage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503920" y="47594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7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1B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indicateurs, choisis selon une lecture PESTEL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5394960" cy="658368"/>
          </a:xfrm>
          <a:prstGeom prst="roundRect">
            <a:avLst>
              <a:gd name="adj" fmla="val 12500"/>
            </a:avLst>
          </a:prstGeom>
          <a:solidFill>
            <a:srgbClr val="E8F3F1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8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Politique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148840" y="1508760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60" dirty="0">
                <a:solidFill>
                  <a:srgbClr val="1B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Stabilité politique (Banque mondiale)</a:t>
            </a:r>
            <a:endParaRPr lang="en-US" sz="1060" dirty="0"/>
          </a:p>
        </p:txBody>
      </p:sp>
      <p:sp>
        <p:nvSpPr>
          <p:cNvPr id="7" name="Shape 5"/>
          <p:cNvSpPr/>
          <p:nvPr/>
        </p:nvSpPr>
        <p:spPr>
          <a:xfrm>
            <a:off x="502920" y="2258568"/>
            <a:ext cx="5394960" cy="658368"/>
          </a:xfrm>
          <a:prstGeom prst="roundRect">
            <a:avLst>
              <a:gd name="adj" fmla="val 12500"/>
            </a:avLst>
          </a:prstGeom>
          <a:solidFill>
            <a:srgbClr val="FDEEE1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731520" y="2258568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7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Économique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148840" y="2258568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60" dirty="0">
                <a:solidFill>
                  <a:srgbClr val="1B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PIB par habitant (USD)</a:t>
            </a:r>
            <a:endParaRPr lang="en-US" sz="1060" dirty="0"/>
          </a:p>
        </p:txBody>
      </p:sp>
      <p:sp>
        <p:nvSpPr>
          <p:cNvPr id="10" name="Shape 8"/>
          <p:cNvSpPr/>
          <p:nvPr/>
        </p:nvSpPr>
        <p:spPr>
          <a:xfrm>
            <a:off x="502920" y="3008376"/>
            <a:ext cx="5394960" cy="658368"/>
          </a:xfrm>
          <a:prstGeom prst="roundRect">
            <a:avLst>
              <a:gd name="adj" fmla="val 12500"/>
            </a:avLst>
          </a:prstGeom>
          <a:solidFill>
            <a:srgbClr val="EAF3EC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731520" y="3008376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E7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148840" y="3008376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60" dirty="0">
                <a:solidFill>
                  <a:srgbClr val="1B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totale, consommation de volaille/habitant</a:t>
            </a:r>
            <a:endParaRPr lang="en-US" sz="1060" dirty="0"/>
          </a:p>
        </p:txBody>
      </p:sp>
      <p:sp>
        <p:nvSpPr>
          <p:cNvPr id="13" name="Shape 11"/>
          <p:cNvSpPr/>
          <p:nvPr/>
        </p:nvSpPr>
        <p:spPr>
          <a:xfrm>
            <a:off x="502920" y="3758184"/>
            <a:ext cx="5394960" cy="658368"/>
          </a:xfrm>
          <a:prstGeom prst="roundRect">
            <a:avLst>
              <a:gd name="adj" fmla="val 12500"/>
            </a:avLst>
          </a:prstGeom>
          <a:solidFill>
            <a:srgbClr val="E8F3F1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731520" y="3758184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8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Filière avicole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148840" y="3758184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60" dirty="0">
                <a:solidFill>
                  <a:srgbClr val="1B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Production, imports, exports, disponibilité intérieure, variation de stock (FAO)</a:t>
            </a:r>
            <a:endParaRPr lang="en-US" sz="1060" dirty="0"/>
          </a:p>
        </p:txBody>
      </p:sp>
      <p:sp>
        <p:nvSpPr>
          <p:cNvPr id="16" name="Shape 14"/>
          <p:cNvSpPr/>
          <p:nvPr/>
        </p:nvSpPr>
        <p:spPr>
          <a:xfrm>
            <a:off x="6080760" y="1508760"/>
            <a:ext cx="2560320" cy="3145536"/>
          </a:xfrm>
          <a:prstGeom prst="roundRect">
            <a:avLst>
              <a:gd name="adj" fmla="val 3214"/>
            </a:avLst>
          </a:prstGeom>
          <a:solidFill>
            <a:srgbClr val="1B242C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6355080" y="1764792"/>
            <a:ext cx="502920" cy="502920"/>
          </a:xfrm>
          <a:prstGeom prst="ellipse">
            <a:avLst/>
          </a:prstGeom>
          <a:solidFill>
            <a:srgbClr val="E8792E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8" name="Image 0" descr="/home/claude/icons/percentage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5489" y="1835201"/>
            <a:ext cx="362102" cy="362102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355080" y="2377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7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 créée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6355080" y="265176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Taux d'autosuffisance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6355080" y="3127248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7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Production / Disponibilité intérieure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355080" y="3584448"/>
            <a:ext cx="2148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80" dirty="0">
                <a:solidFill>
                  <a:srgbClr val="DDE2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 la dépendance d'un pays aux importations de volaille : un score faible signale un marché structurellement importateur.</a:t>
            </a:r>
            <a:endParaRPr lang="en-US" sz="980" dirty="0"/>
          </a:p>
        </p:txBody>
      </p:sp>
      <p:sp>
        <p:nvSpPr>
          <p:cNvPr id="23" name="Text 20"/>
          <p:cNvSpPr/>
          <p:nvPr/>
        </p:nvSpPr>
        <p:spPr>
          <a:xfrm>
            <a:off x="8503920" y="47594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4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3291840"/>
            <a:ext cx="2743200" cy="2743200"/>
          </a:xfrm>
          <a:prstGeom prst="ellipse">
            <a:avLst/>
          </a:prstGeom>
          <a:solidFill>
            <a:srgbClr val="1E8E82">
              <a:alpha val="12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7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PÉRIMÈTRE DE L'ANALYSE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échantillon largement représentatif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920240"/>
            <a:ext cx="262432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E87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164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02920" y="2880360"/>
            <a:ext cx="2624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pays analysés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3246120"/>
            <a:ext cx="2624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4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100 pays minimum demandés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310128" y="1920240"/>
            <a:ext cx="262432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E87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~96 %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3310128" y="2880360"/>
            <a:ext cx="2624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 population mondiale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10128" y="3246120"/>
            <a:ext cx="2624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4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7,27 Md d'habitants couverts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117336" y="1920240"/>
            <a:ext cx="262432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E87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6117336" y="2880360"/>
            <a:ext cx="2624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 actives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117336" y="3246120"/>
            <a:ext cx="2624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3794760"/>
            <a:ext cx="8138160" cy="0"/>
          </a:xfrm>
          <a:prstGeom prst="line">
            <a:avLst/>
          </a:prstGeom>
          <a:noFill/>
          <a:ln w="12700">
            <a:solidFill>
              <a:srgbClr val="3A47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502920" y="397764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C7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du brief : 100 pays couvrant au moins 60 % de la population mondiale — largement dépassé, ce qui consolide la robustesse des regroupements obtenus.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503920" y="47594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7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1B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Réduire la complexité sans perdre l'essentiel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4041648" cy="3246120"/>
          </a:xfrm>
          <a:prstGeom prst="roundRect">
            <a:avLst>
              <a:gd name="adj" fmla="val 2535"/>
            </a:avLst>
          </a:prstGeom>
          <a:solidFill>
            <a:srgbClr val="E8F3F1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777240" y="1737360"/>
            <a:ext cx="502920" cy="502920"/>
          </a:xfrm>
          <a:prstGeom prst="ellipse">
            <a:avLst/>
          </a:prstGeom>
          <a:solidFill>
            <a:srgbClr val="1E8E82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0" descr="/home/claude/icons/chartpie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678" y="1812798"/>
            <a:ext cx="352044" cy="3520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33172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 une ACP ?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2697480"/>
            <a:ext cx="3520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1B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Résumer 9 variables corrélées en quelques axes de lecture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1B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ce qui différencie vraiment les pays entre eux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1B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Préparer un clustering plus robuste, sur des axes débruités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709160" y="1508760"/>
            <a:ext cx="3931920" cy="3246120"/>
          </a:xfrm>
          <a:prstGeom prst="roundRect">
            <a:avLst>
              <a:gd name="adj" fmla="val 2535"/>
            </a:avLst>
          </a:prstGeom>
          <a:solidFill>
            <a:srgbClr val="FDEEE1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4983480" y="1737360"/>
            <a:ext cx="502920" cy="502920"/>
          </a:xfrm>
          <a:prstGeom prst="ellipse">
            <a:avLst/>
          </a:prstGeom>
          <a:solidFill>
            <a:srgbClr val="E8792E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mage 1" descr="/home/claude/icons/filter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8918" y="1812798"/>
            <a:ext cx="352044" cy="3520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983480" y="233172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de lancer l'ACP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983480" y="2697480"/>
            <a:ext cx="34290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1B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Standardisation obligatoire (StandardScaler) : les échelles des variables (kg/hab, USD, milliers de tonnes…) sont très hétérogènes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1B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prod_volaille retirée : trop corrélée à la disponibilité intérieure (redondance d'information)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8503920" y="47594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7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1B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géants mis de côté pour ne pas écraser l'analyse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02920" y="155448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B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Chine, États-Unis, Inde, Brésil et Japon </a:t>
            </a:r>
            <a:r>
              <a:rPr lang="en-US" sz="1250" dirty="0">
                <a:solidFill>
                  <a:srgbClr val="1B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concentrent à eux seuls une part disproportionnée de la population, de la production et des échanges de volaille.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02920" y="2834640"/>
            <a:ext cx="3840480" cy="1965960"/>
          </a:xfrm>
          <a:prstGeom prst="roundRect">
            <a:avLst>
              <a:gd name="adj" fmla="val 4186"/>
            </a:avLst>
          </a:prstGeom>
          <a:solidFill>
            <a:srgbClr val="F4F5F6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731520" y="3017520"/>
            <a:ext cx="3383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26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le premier plan factoriel, ces 5 pays s'isolent très nettement des </a:t>
            </a:r>
            <a:r>
              <a:rPr lang="en-US" sz="1100" dirty="0" err="1">
                <a:solidFill>
                  <a:srgbClr val="26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autres</a:t>
            </a:r>
            <a:r>
              <a:rPr lang="en-US" sz="1100" dirty="0">
                <a:solidFill>
                  <a:srgbClr val="26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leur poids statistique masquerait les nuances entre les 157 autres pays.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6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Ils sont exclus du clustering </a:t>
            </a:r>
            <a:r>
              <a:rPr lang="en-US" sz="1100" dirty="0" err="1">
                <a:solidFill>
                  <a:srgbClr val="26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</a:t>
            </a:r>
            <a:r>
              <a:rPr lang="en-US" sz="1100" dirty="0">
                <a:solidFill>
                  <a:srgbClr val="26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6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peuvent</a:t>
            </a:r>
            <a:r>
              <a:rPr lang="en-US" sz="1100" dirty="0">
                <a:solidFill>
                  <a:srgbClr val="26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6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être</a:t>
            </a:r>
            <a:r>
              <a:rPr lang="en-US" sz="1100" dirty="0">
                <a:solidFill>
                  <a:srgbClr val="26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 </a:t>
            </a:r>
            <a:r>
              <a:rPr lang="en-US" sz="1100" dirty="0" err="1">
                <a:solidFill>
                  <a:srgbClr val="26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marchés</a:t>
            </a:r>
            <a:r>
              <a:rPr lang="en-US" sz="1100" dirty="0">
                <a:solidFill>
                  <a:srgbClr val="26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à analyser au cas par </a:t>
            </a:r>
            <a:r>
              <a:rPr lang="en-US" sz="1100" dirty="0" err="1">
                <a:solidFill>
                  <a:srgbClr val="26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503920" y="47594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D6252E94-4AE7-85B6-DFE0-65243C5CC7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2890" y="1129987"/>
            <a:ext cx="3691331" cy="362946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7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1B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Deux axes suffisent à lire plus de la moitié de l'information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02920" y="1737360"/>
            <a:ext cx="2788920" cy="1051560"/>
          </a:xfrm>
          <a:prstGeom prst="roundRect">
            <a:avLst>
              <a:gd name="adj" fmla="val 7826"/>
            </a:avLst>
          </a:prstGeom>
          <a:solidFill>
            <a:srgbClr val="E8F3F1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731520" y="18288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8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+ F2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31520" y="235915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6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53 % de variance expliquée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2971800"/>
            <a:ext cx="2788920" cy="1051560"/>
          </a:xfrm>
          <a:prstGeom prst="roundRect">
            <a:avLst>
              <a:gd name="adj" fmla="val 7826"/>
            </a:avLst>
          </a:prstGeom>
          <a:solidFill>
            <a:srgbClr val="E8F3F1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731520" y="30632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8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axes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731520" y="359359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6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nécessaires pour dépasser 84 % d'inertie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02920" y="416052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retenons 4 composantes pour le clustering : un compromis entre richesse d'information et lisibilité.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503920" y="47594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74870174-EEC5-A0EF-DDE0-445706E7CF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8425" y="1293114"/>
            <a:ext cx="3836996" cy="335737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7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1B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Deux logiques bien distinctes structurent les pays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55448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E8F3F1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685800" y="171907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8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Axe F1 — Poids du marché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85800" y="2048256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B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Population, disponibilité intérieure et imports : la taille et le volume du marché intérieur.</a:t>
            </a:r>
            <a:endParaRPr lang="en-US" sz="1080" dirty="0"/>
          </a:p>
        </p:txBody>
      </p:sp>
      <p:sp>
        <p:nvSpPr>
          <p:cNvPr id="8" name="Shape 5"/>
          <p:cNvSpPr/>
          <p:nvPr/>
        </p:nvSpPr>
        <p:spPr>
          <a:xfrm>
            <a:off x="457200" y="310896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FDEEE1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685800" y="327355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05F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Axe F2 — Niveau de développement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85800" y="3602736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B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PIB par habitant, stabilité politique et consommation par habitant : le pouvoir d'achat et la maturité du marché.</a:t>
            </a:r>
            <a:endParaRPr lang="en-US" sz="1080" dirty="0"/>
          </a:p>
        </p:txBody>
      </p:sp>
      <p:sp>
        <p:nvSpPr>
          <p:cNvPr id="11" name="Text 8"/>
          <p:cNvSpPr/>
          <p:nvPr/>
        </p:nvSpPr>
        <p:spPr>
          <a:xfrm>
            <a:off x="8503920" y="47594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5053081B-D9D8-5A60-4BE1-A86B6D62AD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2568" y="1181686"/>
            <a:ext cx="4231352" cy="363414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4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7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Deux méthodes de clustering, pour se répondre l'une à l'autre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874520"/>
            <a:ext cx="4041648" cy="2651760"/>
          </a:xfrm>
          <a:prstGeom prst="roundRect">
            <a:avLst>
              <a:gd name="adj" fmla="val 3103"/>
            </a:avLst>
          </a:prstGeom>
          <a:solidFill>
            <a:srgbClr val="232E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777240" y="2148840"/>
            <a:ext cx="548640" cy="548640"/>
          </a:xfrm>
          <a:prstGeom prst="ellipse">
            <a:avLst/>
          </a:prstGeom>
          <a:solidFill>
            <a:srgbClr val="1E8E82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0" descr="/home/claude/icons/sitemap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223113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167128"/>
            <a:ext cx="2852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8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CAH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463040" y="2404872"/>
            <a:ext cx="28529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Ascendante Hiérarchique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3108960"/>
            <a:ext cx="349300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7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Regroupe progressivement les pays les plus proches. Le dendrogramme donne une vue d'ensemble et suggère un nombre de clusters pertinent.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90872" y="1874520"/>
            <a:ext cx="4041648" cy="2651760"/>
          </a:xfrm>
          <a:prstGeom prst="roundRect">
            <a:avLst>
              <a:gd name="adj" fmla="val 3103"/>
            </a:avLst>
          </a:prstGeom>
          <a:solidFill>
            <a:srgbClr val="232E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4965192" y="2148840"/>
            <a:ext cx="548640" cy="548640"/>
          </a:xfrm>
          <a:prstGeom prst="ellipse">
            <a:avLst/>
          </a:prstGeom>
          <a:solidFill>
            <a:srgbClr val="E8792E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2" name="Image 1" descr="/home/claude/icons/objectgroup_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2231136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50992" y="2167128"/>
            <a:ext cx="2852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87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K-means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5650992" y="2404872"/>
            <a:ext cx="28529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Partitionnement en k groupes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965192" y="3108960"/>
            <a:ext cx="349300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7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 un nombre de clusters a priori et optimise des groupes compacts autour de centroïdes — plus stable pour une segmentation opérationnelle.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502920" y="466344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AA4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identifier des profils types de pays, pour cibler ceux les plus favorables à l'export de volaille bio.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8503920" y="47594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7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1B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dendrogramme suggère 5 grands profils de pays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02920" y="3886200"/>
            <a:ext cx="1554480" cy="822960"/>
          </a:xfrm>
          <a:prstGeom prst="roundRect">
            <a:avLst>
              <a:gd name="adj" fmla="val 10000"/>
            </a:avLst>
          </a:prstGeom>
          <a:solidFill>
            <a:srgbClr val="E8F3F1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502920" y="396849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6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1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02920" y="42062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8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pays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2148840" y="3886200"/>
            <a:ext cx="1554480" cy="822960"/>
          </a:xfrm>
          <a:prstGeom prst="roundRect">
            <a:avLst>
              <a:gd name="adj" fmla="val 10000"/>
            </a:avLst>
          </a:prstGeom>
          <a:solidFill>
            <a:srgbClr val="FDEEE1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2148840" y="396849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6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2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2148840" y="42062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5F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 pays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3794760" y="3886200"/>
            <a:ext cx="1554480" cy="822960"/>
          </a:xfrm>
          <a:prstGeom prst="roundRect">
            <a:avLst>
              <a:gd name="adj" fmla="val 10000"/>
            </a:avLst>
          </a:prstGeom>
          <a:solidFill>
            <a:srgbClr val="E8F3F1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3794760" y="396849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6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3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794760" y="42062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8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 pays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440680" y="3886200"/>
            <a:ext cx="1554480" cy="822960"/>
          </a:xfrm>
          <a:prstGeom prst="roundRect">
            <a:avLst>
              <a:gd name="adj" fmla="val 10000"/>
            </a:avLst>
          </a:prstGeom>
          <a:solidFill>
            <a:srgbClr val="FDEEE1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/>
          <p:nvPr/>
        </p:nvSpPr>
        <p:spPr>
          <a:xfrm>
            <a:off x="5440680" y="396849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6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4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440680" y="42062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5F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pays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7086600" y="3886200"/>
            <a:ext cx="1554480" cy="822960"/>
          </a:xfrm>
          <a:prstGeom prst="roundRect">
            <a:avLst>
              <a:gd name="adj" fmla="val 10000"/>
            </a:avLst>
          </a:prstGeom>
          <a:solidFill>
            <a:srgbClr val="E8F3F1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/>
          <p:nvPr/>
        </p:nvSpPr>
        <p:spPr>
          <a:xfrm>
            <a:off x="7086600" y="396849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6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5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7086600" y="42062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8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pays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8503920" y="47594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F2E4F14F-4985-88AC-A998-1211332714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06" y="1394460"/>
            <a:ext cx="8982222" cy="244144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7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1B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5 clusters projetés sur le plan factoriel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02920" y="1600200"/>
            <a:ext cx="34747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B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grand noyau central </a:t>
            </a:r>
            <a:r>
              <a:rPr lang="en-US" sz="1150" dirty="0">
                <a:solidFill>
                  <a:srgbClr val="1B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(cluster 2, 81 pays) rassemble des profils encore hétérogènes, entouré de groupes plus tranchés :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E8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 développés et stables </a:t>
            </a:r>
            <a:r>
              <a:rPr lang="en-US" sz="1150" dirty="0">
                <a:solidFill>
                  <a:srgbClr val="1B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(cluster 1) à droite du plan,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grands exportateurs à faible stabilité </a:t>
            </a:r>
            <a:r>
              <a:rPr lang="en-US" sz="1150" dirty="0">
                <a:solidFill>
                  <a:srgbClr val="1B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(cluster 4) en bas.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26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Cette lecture confirme l'intuition du cercle des corrélations : développement économique et poids démographique restent les deux forces qui séparent les pays.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8503920" y="47594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1A8302CB-44F0-B4BA-8D1F-64314F8D03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4536" y="1069145"/>
            <a:ext cx="4060658" cy="369030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7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K-MEANS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1B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Combien de clusters retenir ?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554480"/>
            <a:ext cx="3063240" cy="3108960"/>
          </a:xfrm>
          <a:prstGeom prst="roundRect">
            <a:avLst>
              <a:gd name="adj" fmla="val 2687"/>
            </a:avLst>
          </a:prstGeom>
          <a:solidFill>
            <a:srgbClr val="F4F5F6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685800" y="1737360"/>
            <a:ext cx="26517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080" b="1" dirty="0">
                <a:solidFill>
                  <a:srgbClr val="1B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du coude</a:t>
            </a:r>
            <a:endParaRPr lang="en-US" sz="1080" dirty="0"/>
          </a:p>
          <a:p>
            <a:pPr marL="0" indent="0">
              <a:lnSpc>
                <a:spcPct val="122000"/>
              </a:lnSpc>
              <a:spcAft>
                <a:spcPts val="1200"/>
              </a:spcAft>
              <a:buNone/>
            </a:pPr>
            <a:r>
              <a:rPr lang="en-US" sz="1080" dirty="0">
                <a:solidFill>
                  <a:srgbClr val="26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L'inertie décroît régulièrement, sans coude franc au-delà de k = 4.</a:t>
            </a:r>
            <a:endParaRPr lang="en-US" sz="108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080" b="1" dirty="0">
                <a:solidFill>
                  <a:srgbClr val="1B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de silhouette</a:t>
            </a:r>
            <a:endParaRPr lang="en-US" sz="1080" dirty="0"/>
          </a:p>
          <a:p>
            <a:pPr marL="0" indent="0">
              <a:lnSpc>
                <a:spcPct val="122000"/>
              </a:lnSpc>
              <a:spcAft>
                <a:spcPts val="1200"/>
              </a:spcAft>
              <a:buNone/>
            </a:pPr>
            <a:r>
              <a:rPr lang="en-US" sz="1080" dirty="0">
                <a:solidFill>
                  <a:srgbClr val="26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Maximal à k = 2, mais un découpage aussi grossier n'est pas exploitable pour cibler des marchés. k = 4 offre un bon compromis (silhouette ≈ 0,34) entre robustesse et finesse de lecture.</a:t>
            </a:r>
            <a:endParaRPr lang="en-US" sz="108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080" b="1" dirty="0">
                <a:solidFill>
                  <a:srgbClr val="C05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retenons k = 4</a:t>
            </a:r>
            <a:r>
              <a:rPr lang="en-US" sz="1080" dirty="0">
                <a:solidFill>
                  <a:srgbClr val="26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cohérent avec les 3 à 4 profils déjà pressentis avec la CAH.</a:t>
            </a:r>
            <a:endParaRPr lang="en-US" sz="1080" dirty="0"/>
          </a:p>
        </p:txBody>
      </p:sp>
      <p:sp>
        <p:nvSpPr>
          <p:cNvPr id="7" name="Text 4"/>
          <p:cNvSpPr/>
          <p:nvPr/>
        </p:nvSpPr>
        <p:spPr>
          <a:xfrm>
            <a:off x="8503920" y="47594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FEB080BA-8ABB-CE19-8DCD-2BAB34F0C5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1343463"/>
            <a:ext cx="5234358" cy="322853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7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K-MEANS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1B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groupes homogènes de pays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02920" y="1527048"/>
            <a:ext cx="146304" cy="146304"/>
          </a:xfrm>
          <a:prstGeom prst="ellipse">
            <a:avLst/>
          </a:prstGeom>
          <a:solidFill>
            <a:srgbClr val="6B768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777240" y="14173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0 — 84 pays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77240" y="1728216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 limité, faible consommation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02920" y="2313432"/>
            <a:ext cx="146304" cy="146304"/>
          </a:xfrm>
          <a:prstGeom prst="ellipse">
            <a:avLst/>
          </a:prstGeom>
          <a:solidFill>
            <a:srgbClr val="C05F1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777240" y="2203704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1 — 4 pays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77240" y="25146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 d'export/réexport (Belgique, Pays-Bas…)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2920" y="3099816"/>
            <a:ext cx="146304" cy="146304"/>
          </a:xfrm>
          <a:prstGeom prst="ellipse">
            <a:avLst/>
          </a:prstGeom>
          <a:solidFill>
            <a:srgbClr val="1E8E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777240" y="299008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2 — 62 pays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77240" y="3300984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PIB, stabilité et consommation élevés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02920" y="3886200"/>
            <a:ext cx="146304" cy="146304"/>
          </a:xfrm>
          <a:prstGeom prst="ellipse">
            <a:avLst/>
          </a:prstGeom>
          <a:solidFill>
            <a:srgbClr val="3E7C5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/>
          <p:nvPr/>
        </p:nvSpPr>
        <p:spPr>
          <a:xfrm>
            <a:off x="777240" y="377647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3 — 7 pays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77240" y="4087368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Grands marchés à fort volume (Allemagne, RU…)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503920" y="47594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CDD36503-DF2D-79FE-294A-01B91A4176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5761" y="1003554"/>
            <a:ext cx="4938159" cy="375589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7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K-MEANS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500" b="1" dirty="0">
                <a:solidFill>
                  <a:srgbClr val="1B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des profils : que distingue chaque cluster ?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02920" y="443484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standardisées (0 = moyenne des 157 pays hors outliers). Le cluster 2 combine consommation, PIB et stabilité élevés — sans excès de volume.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503920" y="47594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A457EC53-3A6E-1A02-2810-C050CF1372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948" y="970671"/>
            <a:ext cx="8306972" cy="341141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7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FIABILITÉ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1B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CAH et K-means : deux lectures, un même signal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4041648" cy="3246120"/>
          </a:xfrm>
          <a:prstGeom prst="roundRect">
            <a:avLst>
              <a:gd name="adj" fmla="val 2535"/>
            </a:avLst>
          </a:prstGeom>
          <a:solidFill>
            <a:srgbClr val="E8F3F1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777240" y="173736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8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qui converge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352044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130" dirty="0">
                <a:solidFill>
                  <a:srgbClr val="1B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grands pays développés et stables restent groupés dans les deux méthodes (Suisse, pays nordiques, Canada…)</a:t>
            </a:r>
            <a:endParaRPr lang="en-US" sz="113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130" dirty="0">
                <a:solidFill>
                  <a:srgbClr val="1B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deux approches isolent un noyau “marchés matures et solvables” distinct du reste</a:t>
            </a:r>
            <a:endParaRPr lang="en-US" sz="113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130" dirty="0">
                <a:solidFill>
                  <a:srgbClr val="1B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5 outliers démographiques restent à part dans les deux cas</a:t>
            </a:r>
            <a:endParaRPr lang="en-US" sz="1130" dirty="0"/>
          </a:p>
        </p:txBody>
      </p:sp>
      <p:sp>
        <p:nvSpPr>
          <p:cNvPr id="7" name="Shape 5"/>
          <p:cNvSpPr/>
          <p:nvPr/>
        </p:nvSpPr>
        <p:spPr>
          <a:xfrm>
            <a:off x="4709160" y="1508760"/>
            <a:ext cx="3931920" cy="3246120"/>
          </a:xfrm>
          <a:prstGeom prst="roundRect">
            <a:avLst>
              <a:gd name="adj" fmla="val 2535"/>
            </a:avLst>
          </a:prstGeom>
          <a:solidFill>
            <a:srgbClr val="FDEEE1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983480" y="173736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5F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qui diffère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83480" y="2103120"/>
            <a:ext cx="342900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130" dirty="0">
                <a:solidFill>
                  <a:srgbClr val="1B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CAH construit une hiérarchie ; le K-means optimise k groupes compacts fixés a priori</a:t>
            </a:r>
            <a:endParaRPr lang="en-US" sz="113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130" dirty="0">
                <a:solidFill>
                  <a:srgbClr val="1B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Quelques pays “frontières” (ex. Pologne, Thaïlande) changent de groupe selon la méthode</a:t>
            </a:r>
            <a:endParaRPr lang="en-US" sz="113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130" dirty="0">
                <a:solidFill>
                  <a:srgbClr val="1B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retenons la segmentation K-means pour la suite : plus stable et directement actionnable</a:t>
            </a:r>
            <a:endParaRPr lang="en-US" sz="1130" dirty="0"/>
          </a:p>
        </p:txBody>
      </p:sp>
      <p:sp>
        <p:nvSpPr>
          <p:cNvPr id="10" name="Text 8"/>
          <p:cNvSpPr/>
          <p:nvPr/>
        </p:nvSpPr>
        <p:spPr>
          <a:xfrm>
            <a:off x="8503920" y="47594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24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645920"/>
            <a:ext cx="3657600" cy="3657600"/>
          </a:xfrm>
          <a:prstGeom prst="ellipse">
            <a:avLst/>
          </a:prstGeom>
          <a:solidFill>
            <a:srgbClr val="1E8E82">
              <a:alpha val="13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7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RECOMMANDATION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cluster 2 : notre cible prioritaire à l'export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1444752"/>
            <a:ext cx="256032" cy="256032"/>
          </a:xfrm>
          <a:prstGeom prst="ellipse">
            <a:avLst/>
          </a:prstGeom>
          <a:solidFill>
            <a:srgbClr val="E8792E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0" descr="/home/claude/icons/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90472"/>
            <a:ext cx="164592" cy="1645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36245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PIB/habitant élevé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14400" y="167335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7C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Pouvoir d'achat suffisant pour une volaille bio premium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2920" y="2221992"/>
            <a:ext cx="256032" cy="256032"/>
          </a:xfrm>
          <a:prstGeom prst="ellipse">
            <a:avLst/>
          </a:prstGeom>
          <a:solidFill>
            <a:srgbClr val="E8792E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0" name="Image 1" descr="/home/claude/icons/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267712"/>
            <a:ext cx="164592" cy="16459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213969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Consommation de volaille déjà forte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914400" y="245059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7C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 mature, réceptif au produit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502920" y="2999232"/>
            <a:ext cx="256032" cy="256032"/>
          </a:xfrm>
          <a:prstGeom prst="ellipse">
            <a:avLst/>
          </a:prstGeom>
          <a:solidFill>
            <a:srgbClr val="E8792E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4" name="Image 2" descr="/home/claude/icons/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044952"/>
            <a:ext cx="164592" cy="16459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14400" y="291693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Stabilité politique élevée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914400" y="322783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7C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 sûr pour un partenariat commercial durable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4434840" y="1371600"/>
            <a:ext cx="4206240" cy="3429000"/>
          </a:xfrm>
          <a:prstGeom prst="roundRect">
            <a:avLst>
              <a:gd name="adj" fmla="val 2400"/>
            </a:avLst>
          </a:prstGeom>
          <a:solidFill>
            <a:srgbClr val="232E38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Text 13"/>
          <p:cNvSpPr/>
          <p:nvPr/>
        </p:nvSpPr>
        <p:spPr>
          <a:xfrm>
            <a:off x="4709160" y="1536192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7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 pays</a:t>
            </a:r>
            <a:endParaRPr lang="en-US" sz="3000" dirty="0"/>
          </a:p>
        </p:txBody>
      </p:sp>
      <p:sp>
        <p:nvSpPr>
          <p:cNvPr id="19" name="Text 14"/>
          <p:cNvSpPr/>
          <p:nvPr/>
        </p:nvSpPr>
        <p:spPr>
          <a:xfrm>
            <a:off x="4709160" y="20848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AA4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dont, par PIB/habitant décroissant :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4709160" y="2395728"/>
            <a:ext cx="3657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6E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Luxembourg, Suisse, Norvège, Islande, Irlande, Danemark, Australie, Suède, Autriche, Finlande, Canada, Émirats arabes unis, Nouvelle-Zélande, Israël, Corée du Sud, Italie, Espagne, Portugal, République tchèque…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8503920" y="47594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7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RECOMMANDATION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1B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autres clusters : trois lectures stratégiques différentes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8138160" cy="1024128"/>
          </a:xfrm>
          <a:prstGeom prst="roundRect">
            <a:avLst>
              <a:gd name="adj" fmla="val 8036"/>
            </a:avLst>
          </a:prstGeom>
          <a:solidFill>
            <a:srgbClr val="EAF3EC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731520" y="1769364"/>
            <a:ext cx="502920" cy="502920"/>
          </a:xfrm>
          <a:prstGeom prst="ellipse">
            <a:avLst/>
          </a:prstGeom>
          <a:solidFill>
            <a:srgbClr val="3E7C5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0" descr="/home/claude/icons/warehouse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958" y="1844802"/>
            <a:ext cx="352044" cy="3520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600200"/>
            <a:ext cx="2331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1 — 4 pays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40480" y="1600200"/>
            <a:ext cx="21488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30" i="1" dirty="0">
                <a:solidFill>
                  <a:srgbClr val="26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Belgique, Pays-Bas, Pologne, Thaïlande</a:t>
            </a:r>
            <a:endParaRPr lang="en-US" sz="930" dirty="0"/>
          </a:p>
        </p:txBody>
      </p:sp>
      <p:sp>
        <p:nvSpPr>
          <p:cNvPr id="9" name="Text 6"/>
          <p:cNvSpPr/>
          <p:nvPr/>
        </p:nvSpPr>
        <p:spPr>
          <a:xfrm>
            <a:off x="6080760" y="1600200"/>
            <a:ext cx="2423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30" dirty="0">
                <a:solidFill>
                  <a:srgbClr val="26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Autosuffisance et échanges 3 à 5x supérieurs à la moyenne : des hubs logistiques plus que des marchés de destination. À traiter comme partenaires de distribution.</a:t>
            </a:r>
            <a:endParaRPr lang="en-US" sz="930" dirty="0"/>
          </a:p>
        </p:txBody>
      </p:sp>
      <p:sp>
        <p:nvSpPr>
          <p:cNvPr id="10" name="Shape 7"/>
          <p:cNvSpPr/>
          <p:nvPr/>
        </p:nvSpPr>
        <p:spPr>
          <a:xfrm>
            <a:off x="502920" y="2624328"/>
            <a:ext cx="8138160" cy="1024128"/>
          </a:xfrm>
          <a:prstGeom prst="roundRect">
            <a:avLst>
              <a:gd name="adj" fmla="val 8036"/>
            </a:avLst>
          </a:prstGeom>
          <a:solidFill>
            <a:srgbClr val="FDEEE1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731520" y="2884932"/>
            <a:ext cx="502920" cy="502920"/>
          </a:xfrm>
          <a:prstGeom prst="ellipse">
            <a:avLst/>
          </a:prstGeom>
          <a:solidFill>
            <a:srgbClr val="C05F1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2" name="Image 1" descr="/home/claude/icons/building_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958" y="2960370"/>
            <a:ext cx="352044" cy="3520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17320" y="2715768"/>
            <a:ext cx="2331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3 — 7 pays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840480" y="2715768"/>
            <a:ext cx="21488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30" i="1" dirty="0">
                <a:solidFill>
                  <a:srgbClr val="26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Allemagne, Royaume-Uni, Afrique du Sud, Arabie saoudite, Mexique, Russie, France</a:t>
            </a:r>
            <a:endParaRPr lang="en-US" sz="930" dirty="0"/>
          </a:p>
        </p:txBody>
      </p:sp>
      <p:sp>
        <p:nvSpPr>
          <p:cNvPr id="15" name="Text 11"/>
          <p:cNvSpPr/>
          <p:nvPr/>
        </p:nvSpPr>
        <p:spPr>
          <a:xfrm>
            <a:off x="6080760" y="2715768"/>
            <a:ext cx="2423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30" dirty="0">
                <a:solidFill>
                  <a:srgbClr val="26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 PIB par habitant mais volumes absolus considérables (grande population) : marchés secondaires à fort potentiel, plus concurrentiels.</a:t>
            </a:r>
            <a:endParaRPr lang="en-US" sz="930" dirty="0"/>
          </a:p>
        </p:txBody>
      </p:sp>
      <p:sp>
        <p:nvSpPr>
          <p:cNvPr id="16" name="Shape 12"/>
          <p:cNvSpPr/>
          <p:nvPr/>
        </p:nvSpPr>
        <p:spPr>
          <a:xfrm>
            <a:off x="502920" y="3739896"/>
            <a:ext cx="8138160" cy="1024128"/>
          </a:xfrm>
          <a:prstGeom prst="roundRect">
            <a:avLst>
              <a:gd name="adj" fmla="val 8036"/>
            </a:avLst>
          </a:prstGeom>
          <a:solidFill>
            <a:srgbClr val="F4F5F6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3"/>
          <p:cNvSpPr/>
          <p:nvPr/>
        </p:nvSpPr>
        <p:spPr>
          <a:xfrm>
            <a:off x="731520" y="4000500"/>
            <a:ext cx="502920" cy="502920"/>
          </a:xfrm>
          <a:prstGeom prst="ellipse">
            <a:avLst/>
          </a:prstGeom>
          <a:solidFill>
            <a:srgbClr val="6B768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8" name="Image 2" descr="/home/claude/icons/warning_r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958" y="4075938"/>
            <a:ext cx="352044" cy="3520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17320" y="3831336"/>
            <a:ext cx="2331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0 — 84 pays &amp; 5 outliers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3840480" y="3831336"/>
            <a:ext cx="21488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30" i="1" dirty="0">
                <a:solidFill>
                  <a:srgbClr val="26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Reste du monde, Chine, États-Unis, Inde, Brésil, Japon</a:t>
            </a:r>
            <a:endParaRPr lang="en-US" sz="930" dirty="0"/>
          </a:p>
        </p:txBody>
      </p:sp>
      <p:sp>
        <p:nvSpPr>
          <p:cNvPr id="21" name="Text 16"/>
          <p:cNvSpPr/>
          <p:nvPr/>
        </p:nvSpPr>
        <p:spPr>
          <a:xfrm>
            <a:off x="6080760" y="3831336"/>
            <a:ext cx="2423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30" dirty="0">
                <a:solidFill>
                  <a:srgbClr val="26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PIB et stabilité plus faibles, ou marchés géants à traiter au cas par cas : hors cible immédiate pour un lancement premium.</a:t>
            </a:r>
            <a:endParaRPr lang="en-US" sz="930" dirty="0"/>
          </a:p>
        </p:txBody>
      </p:sp>
      <p:sp>
        <p:nvSpPr>
          <p:cNvPr id="22" name="Text 17"/>
          <p:cNvSpPr/>
          <p:nvPr/>
        </p:nvSpPr>
        <p:spPr>
          <a:xfrm>
            <a:off x="8503920" y="47594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7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FEUILLE DE ROUTE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1B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l'analyse à l'action : trois horizons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2624328" cy="3017520"/>
          </a:xfrm>
          <a:prstGeom prst="roundRect">
            <a:avLst>
              <a:gd name="adj" fmla="val 3136"/>
            </a:avLst>
          </a:prstGeom>
          <a:solidFill>
            <a:srgbClr val="E8F3F1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722376" y="1819656"/>
            <a:ext cx="502920" cy="502920"/>
          </a:xfrm>
          <a:prstGeom prst="ellipse">
            <a:avLst/>
          </a:prstGeom>
          <a:solidFill>
            <a:srgbClr val="1E8E82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0" descr="/home/claude/icons/rocket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814" y="1895094"/>
            <a:ext cx="352044" cy="3520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22376" y="2468880"/>
            <a:ext cx="21854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Court terme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22376" y="2770632"/>
            <a:ext cx="2185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8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– 6 mois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22376" y="3108960"/>
            <a:ext cx="2185416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26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 terrain sur 5 à 10 pays du cluster 2 (Suisse, Émirats arabes unis, Corée du Sud, Canada, Danemark…) : salons bio, certifications sanitaires, premiers contacts distributeurs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10128" y="1600200"/>
            <a:ext cx="2624328" cy="3017520"/>
          </a:xfrm>
          <a:prstGeom prst="roundRect">
            <a:avLst>
              <a:gd name="adj" fmla="val 3136"/>
            </a:avLst>
          </a:prstGeom>
          <a:solidFill>
            <a:srgbClr val="EAF3EC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3529584" y="1819656"/>
            <a:ext cx="502920" cy="502920"/>
          </a:xfrm>
          <a:prstGeom prst="ellipse">
            <a:avLst/>
          </a:prstGeom>
          <a:solidFill>
            <a:srgbClr val="3E7C5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2" name="Image 1" descr="/home/claude/icons/shipping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5022" y="1895094"/>
            <a:ext cx="352044" cy="3520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29584" y="2468880"/>
            <a:ext cx="21854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Moyen terme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529584" y="2770632"/>
            <a:ext cx="2185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E7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– 18 mois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3529584" y="3108960"/>
            <a:ext cx="2185416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26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Partenariats logistiques avec le cluster 1 (Belgique, Pays-Bas) comme hubs de distribution vers l'Europe du Nord et l'Europe centrale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117336" y="1600200"/>
            <a:ext cx="2624328" cy="3017520"/>
          </a:xfrm>
          <a:prstGeom prst="roundRect">
            <a:avLst>
              <a:gd name="adj" fmla="val 3136"/>
            </a:avLst>
          </a:prstGeom>
          <a:solidFill>
            <a:srgbClr val="FDEEE1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3"/>
          <p:cNvSpPr/>
          <p:nvPr/>
        </p:nvSpPr>
        <p:spPr>
          <a:xfrm>
            <a:off x="6336792" y="1819656"/>
            <a:ext cx="502920" cy="502920"/>
          </a:xfrm>
          <a:prstGeom prst="ellipse">
            <a:avLst/>
          </a:prstGeom>
          <a:solidFill>
            <a:srgbClr val="E8792E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8" name="Image 2" descr="/home/claude/icons/globe_oran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2230" y="1895094"/>
            <a:ext cx="352044" cy="3520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36792" y="2468880"/>
            <a:ext cx="21854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terme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336792" y="2770632"/>
            <a:ext cx="2185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7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mois +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6336792" y="3108960"/>
            <a:ext cx="2185416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26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Veille sur les grands marchés (cluster 3, outliers démographiques) pour une diversification progressive, une fois la présence en Europe/Océanie consolidée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8503920" y="47594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7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REGARD CRITIQUE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1B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Limites de l'étude et prochaines étapes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4041648" cy="1572768"/>
          </a:xfrm>
          <a:prstGeom prst="roundRect">
            <a:avLst>
              <a:gd name="adj" fmla="val 5233"/>
            </a:avLst>
          </a:prstGeom>
          <a:solidFill>
            <a:srgbClr val="F4F5F6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502920" cy="502920"/>
          </a:xfrm>
          <a:prstGeom prst="ellipse">
            <a:avLst/>
          </a:prstGeom>
          <a:solidFill>
            <a:srgbClr val="6B768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0" descr="/home/claude/icons/database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958" y="1858518"/>
            <a:ext cx="352044" cy="3520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737360"/>
            <a:ext cx="2990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 2017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2240280"/>
            <a:ext cx="358444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26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millésimes les plus récents et complets disponibles sur les 3 sources ; à actualiser avant tout engagement commercial</a:t>
            </a:r>
            <a:endParaRPr lang="en-US" sz="1030" dirty="0"/>
          </a:p>
        </p:txBody>
      </p:sp>
      <p:sp>
        <p:nvSpPr>
          <p:cNvPr id="9" name="Shape 6"/>
          <p:cNvSpPr/>
          <p:nvPr/>
        </p:nvSpPr>
        <p:spPr>
          <a:xfrm>
            <a:off x="4690872" y="1554480"/>
            <a:ext cx="4041648" cy="1572768"/>
          </a:xfrm>
          <a:prstGeom prst="roundRect">
            <a:avLst>
              <a:gd name="adj" fmla="val 5233"/>
            </a:avLst>
          </a:prstGeom>
          <a:solidFill>
            <a:srgbClr val="F4F5F6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4919472" y="1783080"/>
            <a:ext cx="502920" cy="502920"/>
          </a:xfrm>
          <a:prstGeom prst="ellipse">
            <a:avLst/>
          </a:prstGeom>
          <a:solidFill>
            <a:srgbClr val="6B768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mage 1" descr="/home/claude/icons/balance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4910" y="1858518"/>
            <a:ext cx="352044" cy="3520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59552" y="1737360"/>
            <a:ext cx="2990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de variable culturelle ou religieuse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919472" y="2240280"/>
            <a:ext cx="358444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26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Halal, casher, préférences locales : absentes de cette première analyse macro</a:t>
            </a:r>
            <a:endParaRPr lang="en-US" sz="1030" dirty="0"/>
          </a:p>
        </p:txBody>
      </p:sp>
      <p:sp>
        <p:nvSpPr>
          <p:cNvPr id="14" name="Shape 10"/>
          <p:cNvSpPr/>
          <p:nvPr/>
        </p:nvSpPr>
        <p:spPr>
          <a:xfrm>
            <a:off x="502920" y="3273552"/>
            <a:ext cx="4041648" cy="1572768"/>
          </a:xfrm>
          <a:prstGeom prst="roundRect">
            <a:avLst>
              <a:gd name="adj" fmla="val 5233"/>
            </a:avLst>
          </a:prstGeom>
          <a:solidFill>
            <a:srgbClr val="F4F5F6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1"/>
          <p:cNvSpPr/>
          <p:nvPr/>
        </p:nvSpPr>
        <p:spPr>
          <a:xfrm>
            <a:off x="731520" y="3502152"/>
            <a:ext cx="502920" cy="502920"/>
          </a:xfrm>
          <a:prstGeom prst="ellipse">
            <a:avLst/>
          </a:prstGeom>
          <a:solidFill>
            <a:srgbClr val="6B768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6" name="Image 2" descr="/home/claude/icons/shield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958" y="3577590"/>
            <a:ext cx="352044" cy="3520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3456432"/>
            <a:ext cx="2990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de données commerciales ou tarifaires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731520" y="3959352"/>
            <a:ext cx="358444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26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Accords de libre-échange, droits de douane, barrières sanitaires à intégrer à l'étude de marché terrain</a:t>
            </a:r>
            <a:endParaRPr lang="en-US" sz="1030" dirty="0"/>
          </a:p>
        </p:txBody>
      </p:sp>
      <p:sp>
        <p:nvSpPr>
          <p:cNvPr id="19" name="Shape 14"/>
          <p:cNvSpPr/>
          <p:nvPr/>
        </p:nvSpPr>
        <p:spPr>
          <a:xfrm>
            <a:off x="4690872" y="3273552"/>
            <a:ext cx="4041648" cy="1572768"/>
          </a:xfrm>
          <a:prstGeom prst="roundRect">
            <a:avLst>
              <a:gd name="adj" fmla="val 5233"/>
            </a:avLst>
          </a:prstGeom>
          <a:solidFill>
            <a:srgbClr val="F4F5F6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5"/>
          <p:cNvSpPr/>
          <p:nvPr/>
        </p:nvSpPr>
        <p:spPr>
          <a:xfrm>
            <a:off x="4919472" y="3502152"/>
            <a:ext cx="502920" cy="502920"/>
          </a:xfrm>
          <a:prstGeom prst="ellipse">
            <a:avLst/>
          </a:prstGeom>
          <a:solidFill>
            <a:srgbClr val="6B768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1" name="Image 3" descr="/home/claude/icons/map_oran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4910" y="3577590"/>
            <a:ext cx="352044" cy="3520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59552" y="3456432"/>
            <a:ext cx="2990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Clustering statistique, pas encore terrain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4919472" y="3959352"/>
            <a:ext cx="358444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26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validation par pays (visites, distributeurs, réglementation bio locale) reste nécessaire avant sélection finale</a:t>
            </a:r>
            <a:endParaRPr lang="en-US" sz="1030" dirty="0"/>
          </a:p>
        </p:txBody>
      </p:sp>
      <p:sp>
        <p:nvSpPr>
          <p:cNvPr id="24" name="Text 18"/>
          <p:cNvSpPr/>
          <p:nvPr/>
        </p:nvSpPr>
        <p:spPr>
          <a:xfrm>
            <a:off x="8503920" y="47594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B24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023360" cy="4023360"/>
          </a:xfrm>
          <a:prstGeom prst="ellipse">
            <a:avLst/>
          </a:prstGeom>
          <a:solidFill>
            <a:srgbClr val="E8792E">
              <a:alpha val="11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949440" y="2377440"/>
            <a:ext cx="3657600" cy="3657600"/>
          </a:xfrm>
          <a:prstGeom prst="ellipse">
            <a:avLst/>
          </a:prstGeom>
          <a:solidFill>
            <a:srgbClr val="1E8E82">
              <a:alpha val="12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502920" y="502920"/>
            <a:ext cx="594360" cy="594360"/>
          </a:xfrm>
          <a:prstGeom prst="ellipse">
            <a:avLst/>
          </a:prstGeom>
          <a:solidFill>
            <a:srgbClr val="2E3B45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5" name="Image 0" descr="/home/claude/icons/chicken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300" y="568300"/>
            <a:ext cx="463601" cy="4636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1234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E87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02920" y="1536192"/>
            <a:ext cx="8138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 marchés matures et stables pour lancer notre volaille bio à l'international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521208" y="274320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D3D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L'ACP et deux méthodes de clustering convergent vers un même signal : un groupe de pays à fort pouvoir d'achat, déjà consommateurs de volaille et politiquement stables constitue notre meilleure porte d'entrée.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D3D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 étape : approfondir l'étude de marché sur 5 à 10 pays prioritaires du cluster 2, en s'appuyant sur le cluster 1 comme relais logistique européen.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21208" y="4343400"/>
            <a:ext cx="1005840" cy="0"/>
          </a:xfrm>
          <a:prstGeom prst="line">
            <a:avLst/>
          </a:prstGeom>
          <a:noFill/>
          <a:ln w="31750">
            <a:solidFill>
              <a:srgbClr val="E879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502920" y="44805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AA4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de votre attention — questions bienvenues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7222825-62ea-40f3-96b5-5375c07996e2}" enabled="1" method="Privileged" siteId="{90c7a20a-f34b-40bf-bc48-b9253b6f5d20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7176</TotalTime>
  <Words>2008</Words>
  <Application>Microsoft Office PowerPoint</Application>
  <PresentationFormat>Affichage à l'écran (16:9)</PresentationFormat>
  <Paragraphs>286</Paragraphs>
  <Slides>25</Slides>
  <Notes>25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Poule qui Chante — Identifier les marchés prioritaires à l'international</dc:title>
  <dc:subject>PptxGenJS Presentation</dc:subject>
  <dc:creator>Antoine Baude</dc:creator>
  <cp:lastModifiedBy>ZAIDI Mohamed Hichem OW/FINANCE</cp:lastModifiedBy>
  <cp:revision>19</cp:revision>
  <dcterms:created xsi:type="dcterms:W3CDTF">2026-07-01T11:45:22Z</dcterms:created>
  <dcterms:modified xsi:type="dcterms:W3CDTF">2026-07-06T14:53:39Z</dcterms:modified>
</cp:coreProperties>
</file>